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21" r:id="rId1"/>
  </p:sldMasterIdLst>
  <p:notesMasterIdLst>
    <p:notesMasterId r:id="rId12"/>
  </p:notesMasterIdLst>
  <p:sldIdLst>
    <p:sldId id="256" r:id="rId2"/>
    <p:sldId id="257" r:id="rId3"/>
    <p:sldId id="258" r:id="rId4"/>
    <p:sldId id="259" r:id="rId5"/>
    <p:sldId id="265" r:id="rId6"/>
    <p:sldId id="261" r:id="rId7"/>
    <p:sldId id="262" r:id="rId8"/>
    <p:sldId id="267"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24B92-C019-44BD-817B-3EC202A87407}" type="datetimeFigureOut">
              <a:rPr lang="en-IN" smtClean="0"/>
              <a:t>22-01-2026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325CD-297B-4EAE-90EA-203A1FA47997}" type="slidenum">
              <a:rPr lang="en-IN" smtClean="0"/>
              <a:t>‹#›</a:t>
            </a:fld>
            <a:endParaRPr lang="en-IN"/>
          </a:p>
        </p:txBody>
      </p:sp>
    </p:spTree>
    <p:extLst>
      <p:ext uri="{BB962C8B-B14F-4D97-AF65-F5344CB8AC3E}">
        <p14:creationId xmlns:p14="http://schemas.microsoft.com/office/powerpoint/2010/main" val="159765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A325CD-297B-4EAE-90EA-203A1FA47997}" type="slidenum">
              <a:rPr lang="en-IN" smtClean="0"/>
              <a:t>2</a:t>
            </a:fld>
            <a:endParaRPr lang="en-IN"/>
          </a:p>
        </p:txBody>
      </p:sp>
    </p:spTree>
    <p:extLst>
      <p:ext uri="{BB962C8B-B14F-4D97-AF65-F5344CB8AC3E}">
        <p14:creationId xmlns:p14="http://schemas.microsoft.com/office/powerpoint/2010/main" val="373458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675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6962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7415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5202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8143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9446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9394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9967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05310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07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81907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088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0253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2241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7306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867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5966280"/>
      </p:ext>
    </p:extLst>
  </p:cSld>
  <p:clrMap bg1="lt1" tx1="dk1" bg2="lt2" tx2="dk2" accent1="accent1" accent2="accent2" accent3="accent3" accent4="accent4" accent5="accent5" accent6="accent6" hlink="hlink" folHlink="folHlink"/>
  <p:sldLayoutIdLst>
    <p:sldLayoutId id="2147484022"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 id="2147484033" r:id="rId12"/>
    <p:sldLayoutId id="2147484034" r:id="rId13"/>
    <p:sldLayoutId id="2147484035" r:id="rId14"/>
    <p:sldLayoutId id="2147484036" r:id="rId15"/>
    <p:sldLayoutId id="214748403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kaggle.com/datasets/pratyushpuri/wearable-health-devices-performance-analysi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FB433-800D-3F8B-9093-559EAB541C91}"/>
              </a:ext>
            </a:extLst>
          </p:cNvPr>
          <p:cNvSpPr>
            <a:spLocks noGrp="1"/>
          </p:cNvSpPr>
          <p:nvPr>
            <p:ph type="ctrTitle"/>
          </p:nvPr>
        </p:nvSpPr>
        <p:spPr>
          <a:xfrm>
            <a:off x="2861188" y="1238865"/>
            <a:ext cx="6400800" cy="1377334"/>
          </a:xfrm>
        </p:spPr>
        <p:txBody>
          <a:bodyPr>
            <a:normAutofit/>
          </a:bodyPr>
          <a:lstStyle/>
          <a:p>
            <a:r>
              <a:rPr lang="en-IN" sz="4000" dirty="0">
                <a:solidFill>
                  <a:schemeClr val="tx2">
                    <a:lumMod val="50000"/>
                  </a:schemeClr>
                </a:solidFill>
                <a:latin typeface="Times New Roman" panose="02020603050405020304" pitchFamily="18" charset="0"/>
                <a:cs typeface="Times New Roman" panose="02020603050405020304" pitchFamily="18" charset="0"/>
              </a:rPr>
              <a:t>WEARABLE HEALTH     DEVICE  PERFORMANCE</a:t>
            </a:r>
          </a:p>
        </p:txBody>
      </p:sp>
      <p:sp>
        <p:nvSpPr>
          <p:cNvPr id="3" name="Subtitle 2">
            <a:extLst>
              <a:ext uri="{FF2B5EF4-FFF2-40B4-BE49-F238E27FC236}">
                <a16:creationId xmlns:a16="http://schemas.microsoft.com/office/drawing/2014/main" id="{FC0066C3-E0B1-861F-4C47-E558E447870B}"/>
              </a:ext>
            </a:extLst>
          </p:cNvPr>
          <p:cNvSpPr>
            <a:spLocks noGrp="1"/>
          </p:cNvSpPr>
          <p:nvPr>
            <p:ph type="subTitle" idx="1"/>
          </p:nvPr>
        </p:nvSpPr>
        <p:spPr>
          <a:xfrm>
            <a:off x="6676102" y="3509298"/>
            <a:ext cx="2772698" cy="2213075"/>
          </a:xfrm>
        </p:spPr>
        <p:txBody>
          <a:bodyPr>
            <a:normAutofit/>
          </a:bodyPr>
          <a:lstStyle/>
          <a:p>
            <a:r>
              <a:rPr lang="en-IN" sz="2400" dirty="0">
                <a:solidFill>
                  <a:schemeClr val="tx2">
                    <a:lumMod val="50000"/>
                  </a:schemeClr>
                </a:solidFill>
                <a:latin typeface="Times New Roman" panose="02020603050405020304" pitchFamily="18" charset="0"/>
                <a:cs typeface="Times New Roman" panose="02020603050405020304" pitchFamily="18" charset="0"/>
              </a:rPr>
              <a:t>SUBMITTED BY</a:t>
            </a:r>
          </a:p>
          <a:p>
            <a:r>
              <a:rPr lang="en-IN" sz="2400" dirty="0">
                <a:solidFill>
                  <a:schemeClr val="tx2">
                    <a:lumMod val="50000"/>
                  </a:schemeClr>
                </a:solidFill>
                <a:latin typeface="Times New Roman" panose="02020603050405020304" pitchFamily="18" charset="0"/>
                <a:cs typeface="Times New Roman" panose="02020603050405020304" pitchFamily="18" charset="0"/>
              </a:rPr>
              <a:t>SREELAKSHMI K</a:t>
            </a:r>
          </a:p>
          <a:p>
            <a:r>
              <a:rPr lang="en-IN" sz="2400" dirty="0">
                <a:solidFill>
                  <a:schemeClr val="tx2">
                    <a:lumMod val="50000"/>
                  </a:schemeClr>
                </a:solidFill>
                <a:latin typeface="Times New Roman" panose="02020603050405020304" pitchFamily="18" charset="0"/>
                <a:cs typeface="Times New Roman" panose="02020603050405020304" pitchFamily="18" charset="0"/>
              </a:rPr>
              <a:t>DATA ANALYTICS</a:t>
            </a:r>
          </a:p>
          <a:p>
            <a:r>
              <a:rPr lang="en-IN" sz="2400" dirty="0">
                <a:solidFill>
                  <a:schemeClr val="tx2">
                    <a:lumMod val="50000"/>
                  </a:schemeClr>
                </a:solidFill>
                <a:latin typeface="Times New Roman" panose="02020603050405020304" pitchFamily="18" charset="0"/>
                <a:cs typeface="Times New Roman" panose="02020603050405020304" pitchFamily="18" charset="0"/>
              </a:rPr>
              <a:t>MS EXCEL</a:t>
            </a:r>
          </a:p>
        </p:txBody>
      </p:sp>
      <p:pic>
        <p:nvPicPr>
          <p:cNvPr id="7" name="Picture 6">
            <a:extLst>
              <a:ext uri="{FF2B5EF4-FFF2-40B4-BE49-F238E27FC236}">
                <a16:creationId xmlns:a16="http://schemas.microsoft.com/office/drawing/2014/main" id="{EE665C69-15E9-CBB4-8D1B-C842CD944984}"/>
              </a:ext>
            </a:extLst>
          </p:cNvPr>
          <p:cNvPicPr>
            <a:picLocks noChangeAspect="1"/>
          </p:cNvPicPr>
          <p:nvPr/>
        </p:nvPicPr>
        <p:blipFill>
          <a:blip r:embed="rId2"/>
          <a:stretch>
            <a:fillRect/>
          </a:stretch>
        </p:blipFill>
        <p:spPr>
          <a:xfrm>
            <a:off x="-1" y="0"/>
            <a:ext cx="2772698" cy="6858000"/>
          </a:xfrm>
          <a:prstGeom prst="rect">
            <a:avLst/>
          </a:prstGeom>
        </p:spPr>
      </p:pic>
    </p:spTree>
    <p:extLst>
      <p:ext uri="{BB962C8B-B14F-4D97-AF65-F5344CB8AC3E}">
        <p14:creationId xmlns:p14="http://schemas.microsoft.com/office/powerpoint/2010/main" val="2646545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B35F8-EFE3-0726-9AAD-2C80F65A2B5A}"/>
              </a:ext>
            </a:extLst>
          </p:cNvPr>
          <p:cNvSpPr>
            <a:spLocks noGrp="1"/>
          </p:cNvSpPr>
          <p:nvPr>
            <p:ph type="title"/>
          </p:nvPr>
        </p:nvSpPr>
        <p:spPr>
          <a:xfrm>
            <a:off x="1484312" y="265471"/>
            <a:ext cx="9223018" cy="648929"/>
          </a:xfrm>
        </p:spPr>
        <p:txBody>
          <a:bodyPr>
            <a:normAutofit fontScale="90000"/>
          </a:bodyPr>
          <a:lstStyle/>
          <a:p>
            <a:r>
              <a:rPr lang="en-IN"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6EEC29B-C876-CAE0-71DC-16249EEF103A}"/>
              </a:ext>
            </a:extLst>
          </p:cNvPr>
          <p:cNvSpPr>
            <a:spLocks noGrp="1"/>
          </p:cNvSpPr>
          <p:nvPr>
            <p:ph idx="1"/>
          </p:nvPr>
        </p:nvSpPr>
        <p:spPr>
          <a:xfrm>
            <a:off x="0" y="914399"/>
            <a:ext cx="9488129" cy="4454013"/>
          </a:xfrm>
        </p:spPr>
        <p:txBody>
          <a:bodyPr>
            <a:normAutofit/>
          </a:bodyPr>
          <a:lstStyle/>
          <a:p>
            <a:pPr algn="just">
              <a:lnSpc>
                <a:spcPct val="150000"/>
              </a:lnSpc>
              <a:buFont typeface="Wingdings" panose="05000000000000000000" pitchFamily="2" charset="2"/>
              <a:buChar char="q"/>
            </a:pPr>
            <a:r>
              <a:rPr lang="en-US" sz="2400" dirty="0">
                <a:solidFill>
                  <a:schemeClr val="tx2">
                    <a:lumMod val="50000"/>
                  </a:schemeClr>
                </a:solidFill>
                <a:latin typeface="Times New Roman" panose="02020603050405020304" pitchFamily="18" charset="0"/>
                <a:cs typeface="Times New Roman" panose="02020603050405020304" pitchFamily="18" charset="0"/>
              </a:rPr>
              <a:t>Wearable health devices are widely used to track daily health and fitness activities such as heart rate, steps, sleep, and calories. These devices help users monitor their health and improve their lifestyle.</a:t>
            </a:r>
          </a:p>
          <a:p>
            <a:pPr algn="just">
              <a:lnSpc>
                <a:spcPct val="150000"/>
              </a:lnSpc>
              <a:buFont typeface="Wingdings" panose="05000000000000000000" pitchFamily="2" charset="2"/>
              <a:buChar char="q"/>
            </a:pPr>
            <a:r>
              <a:rPr lang="en-US" sz="2400" dirty="0">
                <a:solidFill>
                  <a:schemeClr val="tx2">
                    <a:lumMod val="50000"/>
                  </a:schemeClr>
                </a:solidFill>
                <a:latin typeface="Times New Roman" panose="02020603050405020304" pitchFamily="18" charset="0"/>
                <a:cs typeface="Times New Roman" panose="02020603050405020304" pitchFamily="18" charset="0"/>
              </a:rPr>
              <a:t>This project analyzes the performance of different wearable health device brands using Excel. By studying battery life, accuracy, price, and performance score, the analysis helps compare devices and understand which brands offer better value and reliability</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220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BC593-A49F-CD22-BB86-B596621DED12}"/>
              </a:ext>
            </a:extLst>
          </p:cNvPr>
          <p:cNvSpPr>
            <a:spLocks noGrp="1"/>
          </p:cNvSpPr>
          <p:nvPr>
            <p:ph type="title"/>
          </p:nvPr>
        </p:nvSpPr>
        <p:spPr>
          <a:xfrm>
            <a:off x="1268361" y="181897"/>
            <a:ext cx="10234663" cy="634180"/>
          </a:xfrm>
        </p:spPr>
        <p:txBody>
          <a:bodyPr>
            <a:normAutofit fontScale="90000"/>
          </a:bodyPr>
          <a:lstStyle/>
          <a:p>
            <a:r>
              <a:rPr lang="en-IN" dirty="0">
                <a:latin typeface="Times New Roman" panose="02020603050405020304" pitchFamily="18" charset="0"/>
                <a:cs typeface="Times New Roman" panose="02020603050405020304" pitchFamily="18" charset="0"/>
              </a:rPr>
              <a:t>                     </a:t>
            </a:r>
            <a:r>
              <a:rPr lang="en-IN" sz="4400" dirty="0">
                <a:solidFill>
                  <a:schemeClr val="tx2">
                    <a:lumMod val="50000"/>
                  </a:schemeClr>
                </a:solidFill>
                <a:latin typeface="Times New Roman" panose="02020603050405020304" pitchFamily="18" charset="0"/>
                <a:cs typeface="Times New Roman" panose="02020603050405020304" pitchFamily="18" charset="0"/>
              </a:rPr>
              <a:t>DATASET</a:t>
            </a:r>
          </a:p>
        </p:txBody>
      </p:sp>
      <p:pic>
        <p:nvPicPr>
          <p:cNvPr id="7" name="Content Placeholder 6">
            <a:extLst>
              <a:ext uri="{FF2B5EF4-FFF2-40B4-BE49-F238E27FC236}">
                <a16:creationId xmlns:a16="http://schemas.microsoft.com/office/drawing/2014/main" id="{E2E5DE11-AD0A-D61B-95D7-F3E9DC495F52}"/>
              </a:ext>
            </a:extLst>
          </p:cNvPr>
          <p:cNvPicPr>
            <a:picLocks noGrp="1" noChangeAspect="1"/>
          </p:cNvPicPr>
          <p:nvPr>
            <p:ph idx="1"/>
          </p:nvPr>
        </p:nvPicPr>
        <p:blipFill>
          <a:blip r:embed="rId2"/>
          <a:stretch>
            <a:fillRect/>
          </a:stretch>
        </p:blipFill>
        <p:spPr>
          <a:xfrm>
            <a:off x="68827" y="1032387"/>
            <a:ext cx="12005186" cy="5643716"/>
          </a:xfrm>
        </p:spPr>
      </p:pic>
    </p:spTree>
    <p:extLst>
      <p:ext uri="{BB962C8B-B14F-4D97-AF65-F5344CB8AC3E}">
        <p14:creationId xmlns:p14="http://schemas.microsoft.com/office/powerpoint/2010/main" val="2382244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BD33D-482E-8A18-FA01-A1ACD6075F0A}"/>
              </a:ext>
            </a:extLst>
          </p:cNvPr>
          <p:cNvSpPr>
            <a:spLocks noGrp="1"/>
          </p:cNvSpPr>
          <p:nvPr>
            <p:ph type="title"/>
          </p:nvPr>
        </p:nvSpPr>
        <p:spPr>
          <a:xfrm>
            <a:off x="914401" y="196645"/>
            <a:ext cx="10618120" cy="786580"/>
          </a:xfrm>
        </p:spPr>
        <p:txBody>
          <a:bodyPr>
            <a:noAutofit/>
          </a:bodyPr>
          <a:lstStyle/>
          <a:p>
            <a:r>
              <a:rPr lang="en-IN"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PIVOT  TABLES</a:t>
            </a:r>
          </a:p>
        </p:txBody>
      </p:sp>
      <p:pic>
        <p:nvPicPr>
          <p:cNvPr id="6" name="Content Placeholder 5">
            <a:extLst>
              <a:ext uri="{FF2B5EF4-FFF2-40B4-BE49-F238E27FC236}">
                <a16:creationId xmlns:a16="http://schemas.microsoft.com/office/drawing/2014/main" id="{91B010CB-600A-3DCD-B539-C1E3DE4F1BAA}"/>
              </a:ext>
            </a:extLst>
          </p:cNvPr>
          <p:cNvPicPr>
            <a:picLocks noGrp="1" noChangeAspect="1"/>
          </p:cNvPicPr>
          <p:nvPr>
            <p:ph idx="1"/>
          </p:nvPr>
        </p:nvPicPr>
        <p:blipFill>
          <a:blip r:embed="rId2"/>
          <a:stretch>
            <a:fillRect/>
          </a:stretch>
        </p:blipFill>
        <p:spPr>
          <a:xfrm>
            <a:off x="677863" y="1170039"/>
            <a:ext cx="8888924" cy="5171767"/>
          </a:xfrm>
        </p:spPr>
      </p:pic>
    </p:spTree>
    <p:extLst>
      <p:ext uri="{BB962C8B-B14F-4D97-AF65-F5344CB8AC3E}">
        <p14:creationId xmlns:p14="http://schemas.microsoft.com/office/powerpoint/2010/main" val="2260992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65DBC-03E3-6216-1CDA-0E6E8AD33EC6}"/>
              </a:ext>
            </a:extLst>
          </p:cNvPr>
          <p:cNvSpPr>
            <a:spLocks noGrp="1"/>
          </p:cNvSpPr>
          <p:nvPr>
            <p:ph type="title"/>
          </p:nvPr>
        </p:nvSpPr>
        <p:spPr>
          <a:xfrm>
            <a:off x="1229033" y="344129"/>
            <a:ext cx="8544232" cy="619432"/>
          </a:xfrm>
        </p:spPr>
        <p:txBody>
          <a:bodyPr>
            <a:normAutofit fontScale="90000"/>
          </a:bodyPr>
          <a:lstStyle/>
          <a:p>
            <a:r>
              <a:rPr lang="en-IN" sz="4000"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CRITERIA USED</a:t>
            </a:r>
          </a:p>
        </p:txBody>
      </p:sp>
      <p:sp>
        <p:nvSpPr>
          <p:cNvPr id="3" name="Content Placeholder 2">
            <a:extLst>
              <a:ext uri="{FF2B5EF4-FFF2-40B4-BE49-F238E27FC236}">
                <a16:creationId xmlns:a16="http://schemas.microsoft.com/office/drawing/2014/main" id="{6EFA6B00-F194-E4DB-FACF-80FE3EC7DD50}"/>
              </a:ext>
            </a:extLst>
          </p:cNvPr>
          <p:cNvSpPr>
            <a:spLocks noGrp="1"/>
          </p:cNvSpPr>
          <p:nvPr>
            <p:ph idx="1"/>
          </p:nvPr>
        </p:nvSpPr>
        <p:spPr>
          <a:xfrm>
            <a:off x="314633" y="1189703"/>
            <a:ext cx="10932752" cy="4414685"/>
          </a:xfrm>
        </p:spPr>
        <p:txBody>
          <a:bodyPr>
            <a:normAutofit/>
          </a:bodyPr>
          <a:lstStyle/>
          <a:p>
            <a:pPr algn="just">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Average Health Sensor Count Based on Brand</a:t>
            </a:r>
          </a:p>
          <a:p>
            <a:pPr algn="just">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Average Battery Life For Each Brand</a:t>
            </a:r>
          </a:p>
          <a:p>
            <a:pPr algn="just">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Average Performance VS Sum Of  Price USD</a:t>
            </a:r>
          </a:p>
          <a:p>
            <a:pPr>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Average Of Heart Rate Accuracy Rate </a:t>
            </a:r>
          </a:p>
          <a:p>
            <a:pPr marL="0" indent="0" algn="just">
              <a:lnSpc>
                <a:spcPct val="150000"/>
              </a:lnSpc>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77841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E19B1-DA27-1E70-CCE9-EC0F3DDB0E25}"/>
              </a:ext>
            </a:extLst>
          </p:cNvPr>
          <p:cNvSpPr>
            <a:spLocks noGrp="1"/>
          </p:cNvSpPr>
          <p:nvPr>
            <p:ph type="title"/>
          </p:nvPr>
        </p:nvSpPr>
        <p:spPr>
          <a:xfrm>
            <a:off x="147484" y="0"/>
            <a:ext cx="10874477" cy="1081547"/>
          </a:xfrm>
        </p:spPr>
        <p:txBody>
          <a:bodyPr>
            <a:normAutofit/>
          </a:bodyPr>
          <a:lstStyle/>
          <a:p>
            <a:r>
              <a:rPr lang="en-IN"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DASH BOARD</a:t>
            </a:r>
          </a:p>
        </p:txBody>
      </p:sp>
      <p:pic>
        <p:nvPicPr>
          <p:cNvPr id="7" name="Content Placeholder 6">
            <a:extLst>
              <a:ext uri="{FF2B5EF4-FFF2-40B4-BE49-F238E27FC236}">
                <a16:creationId xmlns:a16="http://schemas.microsoft.com/office/drawing/2014/main" id="{146C695A-D66E-5A9A-FDCA-50C1658E56B4}"/>
              </a:ext>
            </a:extLst>
          </p:cNvPr>
          <p:cNvPicPr>
            <a:picLocks noGrp="1" noChangeAspect="1"/>
          </p:cNvPicPr>
          <p:nvPr>
            <p:ph idx="1"/>
          </p:nvPr>
        </p:nvPicPr>
        <p:blipFill>
          <a:blip r:embed="rId2"/>
          <a:stretch>
            <a:fillRect/>
          </a:stretch>
        </p:blipFill>
        <p:spPr>
          <a:xfrm>
            <a:off x="324465" y="668594"/>
            <a:ext cx="9183328" cy="55139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3105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924A-F5BB-3596-F16C-44D62DA0B3AA}"/>
              </a:ext>
            </a:extLst>
          </p:cNvPr>
          <p:cNvSpPr>
            <a:spLocks noGrp="1"/>
          </p:cNvSpPr>
          <p:nvPr>
            <p:ph type="title"/>
          </p:nvPr>
        </p:nvSpPr>
        <p:spPr>
          <a:xfrm>
            <a:off x="1484311" y="142569"/>
            <a:ext cx="10018713" cy="860322"/>
          </a:xfrm>
        </p:spPr>
        <p:txBody>
          <a:bodyPr>
            <a:normAutofit/>
          </a:bodyPr>
          <a:lstStyle/>
          <a:p>
            <a:r>
              <a:rPr lang="en-IN"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FD35CFF-B824-C305-FC86-CFB5CB99E22E}"/>
              </a:ext>
            </a:extLst>
          </p:cNvPr>
          <p:cNvSpPr>
            <a:spLocks noGrp="1"/>
          </p:cNvSpPr>
          <p:nvPr>
            <p:ph idx="1"/>
          </p:nvPr>
        </p:nvSpPr>
        <p:spPr>
          <a:xfrm>
            <a:off x="206477" y="1002891"/>
            <a:ext cx="11080955" cy="5712540"/>
          </a:xfrm>
        </p:spPr>
        <p:txBody>
          <a:bodyPr>
            <a:normAutofit/>
          </a:bodyPr>
          <a:lstStyle/>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Wearable device performance varies by brand and purpose</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Garmin excels in battery life, while Apple leads in accuracy</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Fitbit and Amazfit are cost-effective options</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Data analysis helps users choose devices based on their need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0919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C01D-2550-E2D6-BE14-7457AFC30C95}"/>
              </a:ext>
            </a:extLst>
          </p:cNvPr>
          <p:cNvSpPr>
            <a:spLocks noGrp="1"/>
          </p:cNvSpPr>
          <p:nvPr>
            <p:ph type="title"/>
          </p:nvPr>
        </p:nvSpPr>
        <p:spPr>
          <a:xfrm>
            <a:off x="314632" y="265470"/>
            <a:ext cx="11115367" cy="806246"/>
          </a:xfrm>
        </p:spPr>
        <p:txBody>
          <a:bodyPr>
            <a:normAutofit/>
          </a:bodyPr>
          <a:lstStyle/>
          <a:p>
            <a:r>
              <a:rPr lang="en-IN" dirty="0"/>
              <a:t>                       </a:t>
            </a:r>
            <a:r>
              <a:rPr lang="en-IN" sz="4400" dirty="0">
                <a:solidFill>
                  <a:schemeClr val="tx2">
                    <a:lumMod val="50000"/>
                  </a:schemeClr>
                </a:solidFill>
                <a:latin typeface="Times New Roman" panose="02020603050405020304" pitchFamily="18" charset="0"/>
                <a:cs typeface="Times New Roman" panose="02020603050405020304" pitchFamily="18" charset="0"/>
              </a:rPr>
              <a:t>SUGGESTIONS</a:t>
            </a:r>
          </a:p>
        </p:txBody>
      </p:sp>
      <p:sp>
        <p:nvSpPr>
          <p:cNvPr id="3" name="Content Placeholder 2">
            <a:extLst>
              <a:ext uri="{FF2B5EF4-FFF2-40B4-BE49-F238E27FC236}">
                <a16:creationId xmlns:a16="http://schemas.microsoft.com/office/drawing/2014/main" id="{F68C4976-2C23-82EF-5E09-3BBE78EE69EF}"/>
              </a:ext>
            </a:extLst>
          </p:cNvPr>
          <p:cNvSpPr>
            <a:spLocks noGrp="1"/>
          </p:cNvSpPr>
          <p:nvPr>
            <p:ph idx="1"/>
          </p:nvPr>
        </p:nvSpPr>
        <p:spPr>
          <a:xfrm>
            <a:off x="589936" y="1238865"/>
            <a:ext cx="10840446" cy="3077496"/>
          </a:xfrm>
        </p:spPr>
        <p:txBody>
          <a:bodyPr>
            <a:normAutofit/>
          </a:bodyPr>
          <a:lstStyle/>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Improve battery life so users can use the device longer</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Keep price reasonable compared to performance</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Increase accuracy of health sensors like heart rate and sleep</a:t>
            </a:r>
          </a:p>
          <a:p>
            <a:pPr algn="just">
              <a:lnSpc>
                <a:spcPct val="15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Focus on user comfort and easy usage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5315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0EBF-7436-F8E0-14BE-BC80AA8C56CE}"/>
              </a:ext>
            </a:extLst>
          </p:cNvPr>
          <p:cNvSpPr>
            <a:spLocks noGrp="1"/>
          </p:cNvSpPr>
          <p:nvPr>
            <p:ph type="title"/>
          </p:nvPr>
        </p:nvSpPr>
        <p:spPr>
          <a:xfrm>
            <a:off x="1484311" y="216310"/>
            <a:ext cx="10018713" cy="1052050"/>
          </a:xfrm>
        </p:spPr>
        <p:txBody>
          <a:bodyPr>
            <a:normAutofit/>
          </a:bodyPr>
          <a:lstStyle/>
          <a:p>
            <a:r>
              <a:rPr lang="en-IN" sz="4000" dirty="0">
                <a:solidFill>
                  <a:schemeClr val="tx2">
                    <a:lumMod val="50000"/>
                  </a:schemeClr>
                </a:solidFill>
                <a:latin typeface="Times New Roman" panose="02020603050405020304" pitchFamily="18" charset="0"/>
                <a:cs typeface="Times New Roman" panose="02020603050405020304" pitchFamily="18" charset="0"/>
              </a:rPr>
              <a:t>                    REFERENCES</a:t>
            </a:r>
          </a:p>
        </p:txBody>
      </p:sp>
      <p:sp>
        <p:nvSpPr>
          <p:cNvPr id="3" name="Content Placeholder 2">
            <a:extLst>
              <a:ext uri="{FF2B5EF4-FFF2-40B4-BE49-F238E27FC236}">
                <a16:creationId xmlns:a16="http://schemas.microsoft.com/office/drawing/2014/main" id="{7867513E-F979-BD32-7E0A-79A24235D654}"/>
              </a:ext>
            </a:extLst>
          </p:cNvPr>
          <p:cNvSpPr>
            <a:spLocks noGrp="1"/>
          </p:cNvSpPr>
          <p:nvPr>
            <p:ph idx="1"/>
          </p:nvPr>
        </p:nvSpPr>
        <p:spPr>
          <a:xfrm>
            <a:off x="117987" y="1061885"/>
            <a:ext cx="9537290" cy="4041058"/>
          </a:xfrm>
        </p:spPr>
        <p:txBody>
          <a:bodyPr>
            <a:normAutofit/>
          </a:bodyPr>
          <a:lstStyle/>
          <a:p>
            <a:pPr>
              <a:buFont typeface="Wingdings" panose="05000000000000000000" pitchFamily="2" charset="2"/>
              <a:buChar char="q"/>
            </a:pPr>
            <a:r>
              <a:rPr lang="en-IN" sz="2400" dirty="0">
                <a:solidFill>
                  <a:schemeClr val="tx2">
                    <a:lumMod val="50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https://www.kaggle.com/datasets/pratyushpuri/wearable-health-devices-performance-analysis</a:t>
            </a:r>
            <a:endParaRPr lang="en-IN" sz="2400" dirty="0">
              <a:solidFill>
                <a:schemeClr val="tx2">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Microsoft Excel</a:t>
            </a:r>
          </a:p>
        </p:txBody>
      </p:sp>
    </p:spTree>
    <p:extLst>
      <p:ext uri="{BB962C8B-B14F-4D97-AF65-F5344CB8AC3E}">
        <p14:creationId xmlns:p14="http://schemas.microsoft.com/office/powerpoint/2010/main" val="56248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309F-AD52-3B37-37C3-27CEA0E93E6D}"/>
              </a:ext>
            </a:extLst>
          </p:cNvPr>
          <p:cNvSpPr>
            <a:spLocks noGrp="1"/>
          </p:cNvSpPr>
          <p:nvPr>
            <p:ph type="title"/>
          </p:nvPr>
        </p:nvSpPr>
        <p:spPr>
          <a:xfrm>
            <a:off x="1484311" y="1071716"/>
            <a:ext cx="10018713" cy="3765755"/>
          </a:xfrm>
        </p:spPr>
        <p:txBody>
          <a:bodyPr/>
          <a:lstStyle/>
          <a:p>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sz="4000" dirty="0">
                <a:solidFill>
                  <a:schemeClr val="tx2">
                    <a:lumMod val="5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63972497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TotalTime>
  <Words>227</Words>
  <Application>Microsoft Office PowerPoint</Application>
  <PresentationFormat>Widescreen</PresentationFormat>
  <Paragraphs>33</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Times New Roman</vt:lpstr>
      <vt:lpstr>Trebuchet MS</vt:lpstr>
      <vt:lpstr>Wingdings</vt:lpstr>
      <vt:lpstr>Wingdings 3</vt:lpstr>
      <vt:lpstr>Facet</vt:lpstr>
      <vt:lpstr>WEARABLE HEALTH     DEVICE  PERFORMANCE</vt:lpstr>
      <vt:lpstr>             INTRODUCTION</vt:lpstr>
      <vt:lpstr>                     DATASET</vt:lpstr>
      <vt:lpstr>              PIVOT  TABLES</vt:lpstr>
      <vt:lpstr>              CRITERIA USED</vt:lpstr>
      <vt:lpstr>                       DASH BOARD</vt:lpstr>
      <vt:lpstr>           CONCLUSION</vt:lpstr>
      <vt:lpstr>                       SUGGESTIONS</vt:lpstr>
      <vt:lpstr>                    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Sreelakshmi k</dc:creator>
  <cp:lastModifiedBy>Sreelakshmi k</cp:lastModifiedBy>
  <cp:revision>60</cp:revision>
  <dcterms:created xsi:type="dcterms:W3CDTF">2025-12-09T06:07:20Z</dcterms:created>
  <dcterms:modified xsi:type="dcterms:W3CDTF">2026-01-22T18:20:53Z</dcterms:modified>
</cp:coreProperties>
</file>